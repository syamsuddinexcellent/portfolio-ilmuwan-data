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08214"/>
                </a:solidFill>
                <a:latin typeface="Calibri"/>
              </a:rPr>
              <a:t>PORTOFOLIO SERTIFIKASI ILMUWAN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Prediksi Arah Harian IHSG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C9D3E3"/>
                </a:solidFill>
                <a:latin typeface="Calibri"/>
              </a:rPr>
              <a:t>dengan data pasar global dan domestik, 2010 –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M. Syamsuddin Wisnubroto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9D3E3"/>
                </a:solidFill>
                <a:latin typeface="Calibri"/>
              </a:rPr>
              <a:t>Institut Teknologi Sumatera (ITERA)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9D3E3"/>
                </a:solidFill>
                <a:latin typeface="Calibri"/>
              </a:rPr>
              <a:t>Skema DSS.01.00.23 · SKKNI No. 299 Tahun 2020 ·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Latar belakang dan pertanyaan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400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IHSG dipengaruhi pasar global: saham Amerika, harga minyak, emas, dan kurs rupiah.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BEI tutup pukul </a:t>
            </a:r>
            <a:r>
              <a:rPr sz="1800" b="1">
                <a:solidFill>
                  <a:srgbClr val="222B38"/>
                </a:solidFill>
                <a:latin typeface="Calibri"/>
              </a:rPr>
              <a:t>16.00 WIB</a:t>
            </a:r>
            <a:r>
              <a:rPr sz="1800" b="0">
                <a:solidFill>
                  <a:srgbClr val="222B38"/>
                </a:solidFill>
                <a:latin typeface="Calibri"/>
              </a:rPr>
              <a:t>, bursa Amerika buka </a:t>
            </a:r>
            <a:r>
              <a:rPr sz="1800" b="1">
                <a:solidFill>
                  <a:srgbClr val="222B38"/>
                </a:solidFill>
                <a:latin typeface="Calibri"/>
              </a:rPr>
              <a:t>malam harinya</a:t>
            </a:r>
            <a:r>
              <a:rPr sz="1800" b="0">
                <a:solidFill>
                  <a:srgbClr val="222B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08214"/>
                </a:solidFill>
                <a:latin typeface="Calibri"/>
              </a:rPr>
              <a:t>■  </a:t>
            </a:r>
            <a:r>
              <a:rPr sz="1800" b="0">
                <a:solidFill>
                  <a:srgbClr val="222B38"/>
                </a:solidFill>
                <a:latin typeface="Calibri"/>
              </a:rPr>
              <a:t>Jadi setiap pagi, sebelum BEI dibuka, kita sudah tahu apa yang terjadi di pasar global semalam.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325880"/>
            <a:ext cx="4663440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1325880"/>
            <a:ext cx="64008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435607"/>
            <a:ext cx="4297679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F3A5F"/>
                </a:solidFill>
                <a:latin typeface="Calibri"/>
              </a:rPr>
              <a:t>Pertanyaan bisnis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222B38"/>
                </a:solidFill>
                <a:latin typeface="Calibri"/>
              </a:rPr>
              <a:t>Dengan data yang sudah tersedia pagi hari, bisakah kita menebak apakah IHSG akan ditutup naik hari itu?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160520"/>
            <a:ext cx="11384280" cy="123444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64008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11018519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Pengguna 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Analis riset (laporan pagi), manajer investasi (gambaran arah pasar), dan manajemen risiko (peringatan dini).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Data yang digunakan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03_grafik_vari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7096"/>
            <a:ext cx="6949440" cy="321508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234440"/>
          <a:ext cx="41605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4231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Arti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IHSG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Indonesia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SP500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saham Amerika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Indeks ketakutan pasar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OIL, GOLD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&amp; emas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USDIDR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Kurs dolar terhadap rupiah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CPI, BI_rate, US_rate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Inflasi &amp; suku bunga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4008" cy="1188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1101851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Ringkasan data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Data nyata harian 1 Jan 2010 – 29 Mei 2026: 4.277 baris hari kerja, 9 variabel. IHSG naik pada 54% hari bursa.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11 unit kompetensi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18872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389120"/>
                <a:gridCol w="617220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Kompetensi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Yang dilakukan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Objektif Bisnis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Pertanyaan bisnis, pengguna, kriteria berhasil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Tujuan Teknis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Klasifikasi naik/turun, target ukuran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Menelaah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Grafik, statistik, korelasi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Memvalidasi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Menemukan 5 jenis masalah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Menentukan Objek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Memilih 6 variabel dan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Membersihkan Data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5 langkah perbaikan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Mengkonstruksi Data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6 fitur, data latih 80% &amp; uji 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Skenario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 baseline + 3 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Membangun 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Validasi silang, pilih model terbaik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Mengevaluasi Hasil Pemodelan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Uji dengan data baru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Melakukan Review Pemodelan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Kelebihan, kekurangan, rencana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Tujuan bisnis dan tujuan teknis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1–2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394960" cy="1828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18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bisnis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Perkiraan arah IHSG sebelum BEI dibuka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Mengetahui faktor pasar yang paling berpengaruh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91840"/>
            <a:ext cx="539496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29184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01568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Tujuan teknis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Klasifikasi 2 kelas: 1 = IHSG besok naik, 0 = turun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80% data awal untuk latih, 20% terakhir untuk uji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•  Data tidak diacak (urut waktu)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1234440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Ukuran keberhasilan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Dibanding tebakan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B38"/>
                          </a:solidFill>
                          <a:latin typeface="Calibri"/>
                        </a:rPr>
                        <a:t>harus lebih baik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3977639"/>
            <a:ext cx="5623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Target sengaja realistis karena arah pasar saham harian memang sulit ditebak.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Telaah data: S&amp;P 500 paling berpengaruh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03_korelasi_ihsg_bes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9716"/>
            <a:ext cx="6766560" cy="37584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325880"/>
            <a:ext cx="4343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S&amp;P 500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paling kuat dengan IHSG besok (+0,29).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VIX </a:t>
            </a:r>
            <a:r>
              <a:rPr sz="1600" b="0">
                <a:solidFill>
                  <a:srgbClr val="222B38"/>
                </a:solidFill>
                <a:latin typeface="Calibri"/>
              </a:rPr>
              <a:t>berhubungan terbalik (−0,24): saat pasar takut, IHSG cenderung turun.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Analisis hanya memakai data 2010–2022 agar data uji tidak ikut dilihat.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Validasi data: masalah yang ditemukan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04_kurs_jang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545" y="1188720"/>
            <a:ext cx="7152148" cy="26517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977639"/>
          <a:ext cx="11384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828800"/>
                <a:gridCol w="4069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Masalah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Jumlah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Tindakan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Baris kosong (1 Jan 2010)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baris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Kurs USD/IDR janggal (mis. 888,11)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15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Harga minyak negatif (20 Apr 2020)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Diganti nilai hari sebelumnya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Hari libur BEI (IHSG disalin)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300 baris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Dihapus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CPI, BI_rate, US_rate jarang berubah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3 kolom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Tidak dipakai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Objek data dan pembersihan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5–6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5577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Variabel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Dipakai?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IHSG, SP500, VIX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OIL, GOLD, USDIDR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CPI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 — setahun sekali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BI_rate, US_rate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D73027"/>
                          </a:solidFill>
                          <a:latin typeface="Calibri"/>
                        </a:rPr>
                        <a:t>Tidak — jarang berubah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3749039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Unit analisis: </a:t>
            </a:r>
            <a:r>
              <a:rPr sz="1600" b="0">
                <a:solidFill>
                  <a:srgbClr val="222B38"/>
                </a:solidFill>
                <a:latin typeface="Calibri"/>
              </a:rPr>
              <a:t>satu hari bursa BEI.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22B38"/>
                </a:solidFill>
                <a:latin typeface="Calibri"/>
              </a:rPr>
              <a:t>Target: </a:t>
            </a:r>
            <a:r>
              <a:rPr sz="1600" b="0">
                <a:solidFill>
                  <a:srgbClr val="222B38"/>
                </a:solidFill>
                <a:latin typeface="Calibri"/>
              </a:rPr>
              <a:t>1 jika IHSG hari bursa berikutnya naik.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34440"/>
          <a:ext cx="5532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40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Langkah pembersihan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Hasil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1. Hapus baris kosong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4.277 → 4.276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2. Buang 3 kolom makro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6 variabel tersisa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3. Perbaiki kurs janggal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15 nilai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 Perbaiki minyak negatif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1 nilai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5. Hapus hari libur BEI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4.276 → 3.976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4206240"/>
            <a:ext cx="5532120" cy="10972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4206240"/>
            <a:ext cx="64008" cy="109728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315968"/>
            <a:ext cx="51663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9850"/>
                </a:solidFill>
                <a:latin typeface="Calibri"/>
              </a:rPr>
              <a:t>Hasil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222B38"/>
                </a:solidFill>
                <a:latin typeface="Calibri"/>
              </a:rPr>
              <a:t>3.976 hari bursa bersih, tanpa data kosong.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Konstruksi data dan skenario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7–8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07_pembagia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0650"/>
            <a:ext cx="6675120" cy="24964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3931920"/>
            <a:ext cx="66751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6 fitur: </a:t>
            </a:r>
            <a:r>
              <a:rPr sz="1500" b="0">
                <a:solidFill>
                  <a:srgbClr val="222B38"/>
                </a:solidFill>
                <a:latin typeface="Calibri"/>
              </a:rPr>
              <a:t>perubahan harian (%) IHSG, S&amp;P 500, VIX, minyak, emas, dan USD/IDR.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latih: </a:t>
            </a:r>
            <a:r>
              <a:rPr sz="1500" b="0">
                <a:solidFill>
                  <a:srgbClr val="222B38"/>
                </a:solidFill>
                <a:latin typeface="Calibri"/>
              </a:rPr>
              <a:t>3.179 hari (2010 – Jan 2023).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22B38"/>
                </a:solidFill>
                <a:latin typeface="Calibri"/>
              </a:rPr>
              <a:t>Data uji: </a:t>
            </a:r>
            <a:r>
              <a:rPr sz="1500" b="0">
                <a:solidFill>
                  <a:srgbClr val="222B38"/>
                </a:solidFill>
                <a:latin typeface="Calibri"/>
              </a:rPr>
              <a:t>795 hari (Jan 2023 – Mei 2026), tidak diacak.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60920" y="1234440"/>
          <a:ext cx="4434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91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Skenario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Jenis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60920" y="4160520"/>
            <a:ext cx="4434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6778"/>
                </a:solidFill>
                <a:latin typeface="Calibri"/>
              </a:rPr>
              <a:t>Model dibandingkan dengan validasi silang deret waktu (5 bagian) pada data latih.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Membangun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09_perbandinga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6607"/>
            <a:ext cx="6949440" cy="3247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1325880"/>
            <a:ext cx="4160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222B38"/>
                </a:solidFill>
                <a:latin typeface="Calibri"/>
              </a:rPr>
              <a:t>Random Forest </a:t>
            </a:r>
            <a:r>
              <a:rPr sz="1600" b="0">
                <a:solidFill>
                  <a:srgbClr val="222B38"/>
                </a:solidFill>
                <a:latin typeface="Calibri"/>
              </a:rPr>
              <a:t>dipilih (accuracy validasi </a:t>
            </a:r>
            <a:r>
              <a:rPr sz="1600" b="1">
                <a:solidFill>
                  <a:srgbClr val="222B38"/>
                </a:solidFill>
                <a:latin typeface="Calibri"/>
              </a:rPr>
              <a:t>0,594</a:t>
            </a:r>
            <a:r>
              <a:rPr sz="1600" b="0">
                <a:solidFill>
                  <a:srgbClr val="222B38"/>
                </a:solidFill>
                <a:latin typeface="Calibri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0">
                <a:solidFill>
                  <a:srgbClr val="222B38"/>
                </a:solidFill>
                <a:latin typeface="Calibri"/>
              </a:rPr>
              <a:t>Logistic Regression hampir sama baiknya.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E08214"/>
                </a:solidFill>
                <a:latin typeface="Calibri"/>
              </a:rPr>
              <a:t>■  </a:t>
            </a:r>
            <a:r>
              <a:rPr sz="1600" b="1">
                <a:solidFill>
                  <a:srgbClr val="D73027"/>
                </a:solidFill>
                <a:latin typeface="Calibri"/>
              </a:rPr>
              <a:t>Catatan jujur: </a:t>
            </a:r>
            <a:r>
              <a:rPr sz="1600" b="0">
                <a:solidFill>
                  <a:srgbClr val="222B38"/>
                </a:solidFill>
                <a:latin typeface="Calibri"/>
              </a:rPr>
              <a:t>aturan sederhana "ikuti S&amp;P 500" sedikit lebih tinggi pada data latih.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Evaluasi dengan data uji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34440"/>
          <a:ext cx="6400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B38"/>
                          </a:solidFill>
                          <a:latin typeface="Calibri"/>
                        </a:rPr>
                        <a:t>0,581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Ikuti S&amp;P 500 (baseline)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0,551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0,548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0,576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Selalu Naik (baseline)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0,346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3337560"/>
          <a:ext cx="6400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Nilai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Tercapai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≥ 0,55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F1-macro ≥ 0,55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0,555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ROC-AUC ≥ 0,58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0,581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Accuracy &gt; baseline "Selalu Naik"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B38"/>
                          </a:solidFill>
                          <a:latin typeface="Calibri"/>
                        </a:rPr>
                        <a:t>+0,035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9850"/>
                          </a:solidFill>
                          <a:latin typeface="Calibri"/>
                        </a:rPr>
                        <a:t>Ya</a:t>
                      </a:r>
                    </a:p>
                  </a:txBody>
                  <a:tcPr anchor="ctr" marL="73152" marR="73152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10_fitur_pe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685" y="1188720"/>
            <a:ext cx="4616988" cy="2377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600" y="3749039"/>
            <a:ext cx="4709160" cy="21031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3749039"/>
            <a:ext cx="64008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58768"/>
            <a:ext cx="434340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Artinya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Benar 56,4% dari 795 hari uji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Semua target tercapai, tetapi tipis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Faktor terpenting: S&amp;P 500 semalam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92608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Review: kelebihan, kekurangan, langkah berikutnya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65760"/>
            <a:ext cx="2103120" cy="411480"/>
          </a:xfrm>
          <a:prstGeom prst="round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36576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E08214"/>
                </a:solidFill>
                <a:latin typeface="Calibri"/>
              </a:rPr>
              <a:t>Unit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11384280" cy="27432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Prediksi Arah Harian IHSG · M. Syamsuddin Wisnubroto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64008" cy="233172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9850"/>
                </a:solidFill>
                <a:latin typeface="Calibri"/>
              </a:rPr>
              <a:t>Kelebihan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Data nyata 16 tahun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Masalah data ditemukan &amp; diperbaiki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Pengujian jujur menurut urutan waktu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Model mudah dijelaskan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233172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4008" cy="233172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344168"/>
            <a:ext cx="5212079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73027"/>
                </a:solidFill>
                <a:latin typeface="Calibri"/>
              </a:rPr>
              <a:t>Kekurangan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Arah pasar harian sulit ditebak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Kekuatan model terutama dari S&amp;P 500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memperhitungkan biaya transaksi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Keputusan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Lanjut ke uji coba paralel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Prediksi dicatat tiap pagi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Belum dipakai untuk keputusan investasi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794760"/>
            <a:ext cx="5577840" cy="2286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64008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04488"/>
            <a:ext cx="5212079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Rekomendasi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Tambah data bursa Asia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Latih ulang model tiap bulan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Uji dengan biaya transaksi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22B38"/>
                </a:solidFill>
                <a:latin typeface="Calibri"/>
              </a:rPr>
              <a:t>•  Evaluasi ulang dengan data setelah Mei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82296" cy="2103120"/>
          </a:xfrm>
          <a:prstGeom prst="rect">
            <a:avLst/>
          </a:prstGeom>
          <a:solidFill>
            <a:srgbClr val="E08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9D3E3"/>
                </a:solidFill>
                <a:latin typeface="Calibri"/>
              </a:rPr>
              <a:t>Data nyata, langkah sederhana, dan evaluasi yang jujur.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M. Syamsuddin Wisnubroto · ITERA · syamsuddin.wisnubroto@sd.itera.ac.id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C9D3E3"/>
                </a:solidFill>
                <a:latin typeface="Calibri"/>
              </a:rPr>
              <a:t>Portofolio kompetensi, bukan rekomendasi investasi.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