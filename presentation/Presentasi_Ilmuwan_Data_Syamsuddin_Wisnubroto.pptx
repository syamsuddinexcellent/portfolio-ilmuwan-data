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82296" cy="210312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08214"/>
                </a:solidFill>
                <a:latin typeface="Calibri"/>
              </a:rPr>
              <a:t>PORTOFOLIO SERTIFIKASI ILMUWAN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Prediksi Arah Harian IHSG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C9D3E3"/>
                </a:solidFill>
                <a:latin typeface="Calibri"/>
              </a:rPr>
              <a:t>dengan data pasar global dan domestik, 2010 –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M. Syamsuddin Wisnubroto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9D3E3"/>
                </a:solidFill>
                <a:latin typeface="Calibri"/>
              </a:rPr>
              <a:t>Institut Teknologi Sumatera (ITERA)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3E3"/>
                </a:solidFill>
                <a:latin typeface="Calibri"/>
              </a:rPr>
              <a:t>Skema DSS.01.00.23 · SKKNI No. 299 Tahun 2020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Latar belakang dan pertanyaan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Prediksi Arah Harian IHSG · M. Syamsuddin Wisnubroto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6400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E08214"/>
                </a:solidFill>
                <a:latin typeface="Calibri"/>
              </a:rPr>
              <a:t>■  </a:t>
            </a:r>
            <a:r>
              <a:rPr sz="1800" b="0">
                <a:solidFill>
                  <a:srgbClr val="222B38"/>
                </a:solidFill>
                <a:latin typeface="Calibri"/>
              </a:rPr>
              <a:t>IHSG dipengaruhi pasar global dan kurs: saham Amerika, indeks ketakutan (VIX), harga minyak, emas, dan kurs rupiah.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08214"/>
                </a:solidFill>
                <a:latin typeface="Calibri"/>
              </a:rPr>
              <a:t>■  </a:t>
            </a:r>
            <a:r>
              <a:rPr sz="1800" b="0">
                <a:solidFill>
                  <a:srgbClr val="222B38"/>
                </a:solidFill>
                <a:latin typeface="Calibri"/>
              </a:rPr>
              <a:t>BEI tutup pukul </a:t>
            </a:r>
            <a:r>
              <a:rPr sz="1800" b="1">
                <a:solidFill>
                  <a:srgbClr val="222B38"/>
                </a:solidFill>
                <a:latin typeface="Calibri"/>
              </a:rPr>
              <a:t>16.00 WIB</a:t>
            </a:r>
            <a:r>
              <a:rPr sz="1800" b="0">
                <a:solidFill>
                  <a:srgbClr val="222B38"/>
                </a:solidFill>
                <a:latin typeface="Calibri"/>
              </a:rPr>
              <a:t>, bursa Amerika buka </a:t>
            </a:r>
            <a:r>
              <a:rPr sz="1800" b="1">
                <a:solidFill>
                  <a:srgbClr val="222B38"/>
                </a:solidFill>
                <a:latin typeface="Calibri"/>
              </a:rPr>
              <a:t>malam harinya</a:t>
            </a:r>
            <a:r>
              <a:rPr sz="1800" b="0">
                <a:solidFill>
                  <a:srgbClr val="222B38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08214"/>
                </a:solidFill>
                <a:latin typeface="Calibri"/>
              </a:rPr>
              <a:t>■  </a:t>
            </a:r>
            <a:r>
              <a:rPr sz="1800" b="0">
                <a:solidFill>
                  <a:srgbClr val="222B38"/>
                </a:solidFill>
                <a:latin typeface="Calibri"/>
              </a:rPr>
              <a:t>Jadi setiap pagi, sebelum BEI dibuka, kita sudah tahu apa yang terjadi di pasar global semalam.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25880"/>
            <a:ext cx="4663440" cy="21031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1325880"/>
            <a:ext cx="64008" cy="2103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435607"/>
            <a:ext cx="4297679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F3A5F"/>
                </a:solidFill>
                <a:latin typeface="Calibri"/>
              </a:rPr>
              <a:t>Pertanyaan bisnis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B38"/>
                </a:solidFill>
                <a:latin typeface="Calibri"/>
              </a:rPr>
              <a:t>Dengan data yang sudah tersedia pagi hari, bisakah kita menebak apakah IHSG akan ditutup naik hari itu?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160520"/>
            <a:ext cx="11384280" cy="12344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4160520"/>
            <a:ext cx="64008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70248"/>
            <a:ext cx="1101851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Pengguna hasil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8"/>
                </a:solidFill>
                <a:latin typeface="Calibri"/>
              </a:rPr>
              <a:t>Analis riset (laporan pagi), manajer investasi (gambaran arah pasar), dan manajemen risiko (peringatan dini).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Data yang digunakan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Prediksi Arah Harian IHSG · M. Syamsuddin Wisnubroto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03_grafik_vari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27096"/>
            <a:ext cx="6949440" cy="321508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1234440"/>
          <a:ext cx="41605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4231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Variabel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Arti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IHSG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Indeks saham Indonesia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SP500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Indeks saham Amerika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VIX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Indeks ketakutan pasar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OIL, GOLD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Harga minyak &amp; emas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USDIDR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Kurs rupiah per dolar 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4709160"/>
            <a:ext cx="11384280" cy="11887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709160"/>
            <a:ext cx="64008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18888"/>
            <a:ext cx="1101851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Ringkasan data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8"/>
                </a:solidFill>
                <a:latin typeface="Calibri"/>
              </a:rPr>
              <a:t>Data nyata harian 1 Jan 2010 – 30 Sep 2026 dari Yahoo Finance: 4.365 baris hari kerja, 6 variabel. IHSG naik pada 54% hari bursa.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Mengenal variabel pasar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Prediksi Arah Harian IHSG · M. Syamsuddin Wisnubroto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842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931920"/>
                <a:gridCol w="2514600"/>
                <a:gridCol w="347472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Variabel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Apa itu?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Satuan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Kaitan dengan IHSG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IHSG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Indeks seluruh saham di Bursa Efek Indonesia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poin indeks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Yang ditebak: naik/turun besok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S&amp;P 500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Indeks 500 perusahaan terbesar Amerika Serikat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poin indeks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Bursa AS buka setelah BEI tutup → informasi baru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VIX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"Indeks ketakutan" pasar saham AS (bursa Cboe)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poin; &lt; 20 tenang, &gt; 30 cemas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VIX naik → investor menjual aset berisiko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Minyak (WTI)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Harga kontrak berjangka minyak di bursa NYMEX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USD per barel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Banyak saham energi &amp; tambang di BEI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Emas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Harga kontrak berjangka emas di bursa COMEX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USD per troy ounce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Aset aman; cerminan sentimen global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Kurs (USD/IDR)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Banyaknya rupiah untuk membeli 1 dolar AS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rupiah per USD; naik = rupiah melemah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Rupiah melemah ↔ investor asing menjual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4846320"/>
            <a:ext cx="11384280" cy="12801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4846320"/>
            <a:ext cx="64008" cy="12801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956048"/>
            <a:ext cx="1101851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Jam perdagangan (WIB)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B38"/>
                </a:solidFill>
                <a:latin typeface="Calibri"/>
              </a:rPr>
              <a:t>BEI ±09.00–16.00 · Bursa AS ±20.30–03.00 (Maret–November) atau ±21.30–04.00 (November–Maret) · Kurs harian ditutup ±06.00–07.00. Sumber: Yahoo Finance (^JKSE, ^GSPC, ^VIX, CL=F, GC=F, IDR=X).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11 unit kompetensi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Prediksi Arah Harian IHSG · M. Syamsuddin Wisnubroto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842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389120"/>
                <a:gridCol w="617220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Kompetensi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Yang dilakukan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Menentukan Objektif Bisnis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Pertanyaan bisnis, pengguna, kriteria berhasil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Menentukan Tujuan Teknis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Klasifikasi naik/turun, target ukuran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Menelaah Data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Grafik, statistik, korelasi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Memvalidasi Data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Menemukan 4 jenis masalah data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Menentukan Objek Data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Memilih 6 variabel dan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Membersihkan Data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4 langkah perbaikan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Mengkonstruksi Data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6 fitur, data latih 80% &amp; uji 20%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Membangun Skenario Model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2 baseline + 3 model, 2 iterasi fitur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Membangun Model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Validasi silang, pilih model terbaik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Mengevaluasi Hasil Pemodelan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Uji kedua iterasi dengan data uji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Melakukan Review Pemodelan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Kelebihan, kekurangan, rencana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Tujuan bisnis dan tujuan teknis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65760"/>
            <a:ext cx="2103120" cy="4114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E08214"/>
                </a:solidFill>
                <a:latin typeface="Calibri"/>
              </a:rPr>
              <a:t>Unit 1–2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Prediksi Arah Harian IHSG · M. Syamsuddin Wisnubroto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5394960" cy="1828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34440"/>
            <a:ext cx="64008" cy="1828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44168"/>
            <a:ext cx="5029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Tujuan bisnis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8"/>
                </a:solidFill>
                <a:latin typeface="Calibri"/>
              </a:rPr>
              <a:t>•  Perkiraan arah IHSG sebelum BEI dibuka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8"/>
                </a:solidFill>
                <a:latin typeface="Calibri"/>
              </a:rPr>
              <a:t>•  Mengetahui faktor pasar yang paling berpengaruh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91840"/>
            <a:ext cx="5394960" cy="2286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291840"/>
            <a:ext cx="64008" cy="228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01568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Tujuan teknis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8"/>
                </a:solidFill>
                <a:latin typeface="Calibri"/>
              </a:rPr>
              <a:t>•  Klasifikasi 2 kelas: 1 = IHSG besok naik, 0 = turun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8"/>
                </a:solidFill>
                <a:latin typeface="Calibri"/>
              </a:rPr>
              <a:t>•  80% data awal untuk latih, 20% terakhir untuk uji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8"/>
                </a:solidFill>
                <a:latin typeface="Calibri"/>
              </a:rPr>
              <a:t>•  Data tidak diacak (urut waktu)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72200" y="1234440"/>
          <a:ext cx="5623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182880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Ukuran keberhasilan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≥ 0,55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F1-macro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≥ 0,55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≥ 0,58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Dibanding tebakan "selalu naik"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harus lebih baik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172200" y="3977639"/>
            <a:ext cx="5623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A6778"/>
                </a:solidFill>
                <a:latin typeface="Calibri"/>
              </a:rPr>
              <a:t>Target sengaja realistis karena arah pasar saham harian memang sulit ditebak.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Telaah data: S&amp;P 500 paling berpengaruh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65760"/>
            <a:ext cx="2103120" cy="4114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E08214"/>
                </a:solidFill>
                <a:latin typeface="Calibri"/>
              </a:rPr>
              <a:t>Unit 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Prediksi Arah Harian IHSG · M. Syamsuddin Wisnubroto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7</a:t>
            </a:r>
          </a:p>
        </p:txBody>
      </p:sp>
      <p:pic>
        <p:nvPicPr>
          <p:cNvPr id="9" name="Picture 8" descr="03_korelasi_ihsg_bes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29716"/>
            <a:ext cx="6766560" cy="37584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1325880"/>
            <a:ext cx="4343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E08214"/>
                </a:solidFill>
                <a:latin typeface="Calibri"/>
              </a:rPr>
              <a:t>■  </a:t>
            </a:r>
            <a:r>
              <a:rPr sz="1600" b="1">
                <a:solidFill>
                  <a:srgbClr val="222B38"/>
                </a:solidFill>
                <a:latin typeface="Calibri"/>
              </a:rPr>
              <a:t>S&amp;P 500 </a:t>
            </a:r>
            <a:r>
              <a:rPr sz="1600" b="0">
                <a:solidFill>
                  <a:srgbClr val="222B38"/>
                </a:solidFill>
                <a:latin typeface="Calibri"/>
              </a:rPr>
              <a:t>berhubungan paling kuat dengan IHSG besok (+0,29).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E08214"/>
                </a:solidFill>
                <a:latin typeface="Calibri"/>
              </a:rPr>
              <a:t>■  </a:t>
            </a:r>
            <a:r>
              <a:rPr sz="1600" b="1">
                <a:solidFill>
                  <a:srgbClr val="222B38"/>
                </a:solidFill>
                <a:latin typeface="Calibri"/>
              </a:rPr>
              <a:t>VIX </a:t>
            </a:r>
            <a:r>
              <a:rPr sz="1600" b="0">
                <a:solidFill>
                  <a:srgbClr val="222B38"/>
                </a:solidFill>
                <a:latin typeface="Calibri"/>
              </a:rPr>
              <a:t>berhubungan terbalik (−0,24): saat pasar takut, IHSG cenderung turun.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E08214"/>
                </a:solidFill>
                <a:latin typeface="Calibri"/>
              </a:rPr>
              <a:t>■  </a:t>
            </a:r>
            <a:r>
              <a:rPr sz="1600" b="1">
                <a:solidFill>
                  <a:srgbClr val="222B38"/>
                </a:solidFill>
                <a:latin typeface="Calibri"/>
              </a:rPr>
              <a:t>Kurs USD/IDR </a:t>
            </a:r>
            <a:r>
              <a:rPr sz="1600" b="0">
                <a:solidFill>
                  <a:srgbClr val="222B38"/>
                </a:solidFill>
                <a:latin typeface="Calibri"/>
              </a:rPr>
              <a:t>hampir tidak berhubungan (−0,02).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E08214"/>
                </a:solidFill>
                <a:latin typeface="Calibri"/>
              </a:rPr>
              <a:t>■  </a:t>
            </a:r>
            <a:r>
              <a:rPr sz="1600" b="0">
                <a:solidFill>
                  <a:srgbClr val="222B38"/>
                </a:solidFill>
                <a:latin typeface="Calibri"/>
              </a:rPr>
              <a:t>Analisis hanya memakai data 2010–2022 agar data uji tidak ikut dilihat.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Validasi data: masalah yang ditemukan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65760"/>
            <a:ext cx="2103120" cy="4114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E08214"/>
                </a:solidFill>
                <a:latin typeface="Calibri"/>
              </a:rPr>
              <a:t>Unit 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Prediksi Arah Harian IHSG · M. Syamsuddin Wisnubroto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8</a:t>
            </a:r>
          </a:p>
        </p:txBody>
      </p:sp>
      <p:pic>
        <p:nvPicPr>
          <p:cNvPr id="9" name="Picture 8" descr="04_minyak_nega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8068"/>
            <a:ext cx="5577840" cy="2098742"/>
          </a:xfrm>
          <a:prstGeom prst="rect">
            <a:avLst/>
          </a:prstGeom>
        </p:spPr>
      </p:pic>
      <p:pic>
        <p:nvPicPr>
          <p:cNvPr id="10" name="Picture 9" descr="04_kurs_jangg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43408"/>
            <a:ext cx="5577840" cy="206806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3749039"/>
          <a:ext cx="113842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40690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Masalah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Jumlah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Tindakan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Baris kosong (1 Jan 2010)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1 baris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Dihapus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Tanggal ganda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Harga minyak negatif (20 Apr 2020)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1 nilai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Diganti nilai hari sebelumnya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Kurs USD/IDR janggal (mis. 888 pada 1 Nov 2010)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15 nilai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Diganti nilai hari sebelumnya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Hari libur BEI (IHSG disalin)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304 baris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Dihapus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Objek data dan pembersihan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65760"/>
            <a:ext cx="2103120" cy="4114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E08214"/>
                </a:solidFill>
                <a:latin typeface="Calibri"/>
              </a:rPr>
              <a:t>Unit 5–6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Prediksi Arah Harian IHSG · M. Syamsuddin Wisnubroto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234440"/>
          <a:ext cx="5577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3832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Variabel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Dipakai?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IHSG, SP500, VIX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9850"/>
                          </a:solidFill>
                          <a:latin typeface="Calibri"/>
                        </a:rPr>
                        <a:t>Ya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OIL, GOLD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9850"/>
                          </a:solidFill>
                          <a:latin typeface="Calibri"/>
                        </a:rPr>
                        <a:t>Ya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USDIDR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08214"/>
                          </a:solidFill>
                          <a:latin typeface="Calibri"/>
                        </a:rPr>
                        <a:t>Ya, iterasi 1 (dikeluarkan di iterasi 2)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CPI, BI_rate, US_rate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D73027"/>
                          </a:solidFill>
                          <a:latin typeface="Calibri"/>
                        </a:rPr>
                        <a:t>Tidak — jarang berubah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3886200"/>
            <a:ext cx="5577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2B38"/>
                </a:solidFill>
                <a:latin typeface="Calibri"/>
              </a:rPr>
              <a:t>Unit analisis: </a:t>
            </a:r>
            <a:r>
              <a:rPr sz="1600" b="0">
                <a:solidFill>
                  <a:srgbClr val="222B38"/>
                </a:solidFill>
                <a:latin typeface="Calibri"/>
              </a:rPr>
              <a:t>satu hari bursa BEI.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222B38"/>
                </a:solidFill>
                <a:latin typeface="Calibri"/>
              </a:rPr>
              <a:t>Target: </a:t>
            </a:r>
            <a:r>
              <a:rPr sz="1600" b="0">
                <a:solidFill>
                  <a:srgbClr val="222B38"/>
                </a:solidFill>
                <a:latin typeface="Calibri"/>
              </a:rPr>
              <a:t>1 jika IHSG hari bursa berikutnya naik.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234440"/>
          <a:ext cx="5532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2402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Langkah pembersihan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Hasil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1. Hapus baris kosong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4.365 → 4.364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2. Perbaiki kurs janggal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15 nilai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3. Perbaiki minyak negatif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1 nilai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4. Hapus hari libur BEI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4.364 → 4.060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263640" y="3749039"/>
            <a:ext cx="5532120" cy="10972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3749039"/>
            <a:ext cx="64008" cy="1097280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858768"/>
            <a:ext cx="516635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A9850"/>
                </a:solidFill>
                <a:latin typeface="Calibri"/>
              </a:rPr>
              <a:t>Hasil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8"/>
                </a:solidFill>
                <a:latin typeface="Calibri"/>
              </a:rPr>
              <a:t>4.060 hari bursa bersih, tanpa data kosong.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Konstruksi data dan skenario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65760"/>
            <a:ext cx="2103120" cy="4114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E08214"/>
                </a:solidFill>
                <a:latin typeface="Calibri"/>
              </a:rPr>
              <a:t>Unit 7–8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Prediksi Arah Harian IHSG · M. Syamsuddin Wisnubroto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10</a:t>
            </a:r>
          </a:p>
        </p:txBody>
      </p:sp>
      <p:pic>
        <p:nvPicPr>
          <p:cNvPr id="9" name="Picture 8" descr="07_pembagian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20650"/>
            <a:ext cx="6675120" cy="24964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3931920"/>
            <a:ext cx="6675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6 fitur: </a:t>
            </a:r>
            <a:r>
              <a:rPr sz="1500" b="0">
                <a:solidFill>
                  <a:srgbClr val="222B38"/>
                </a:solidFill>
                <a:latin typeface="Calibri"/>
              </a:rPr>
              <a:t>perubahan harian (%) IHSG, S&amp;P 500, VIX, minyak, emas, dan kurs.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Data latih: </a:t>
            </a:r>
            <a:r>
              <a:rPr sz="1500" b="0">
                <a:solidFill>
                  <a:srgbClr val="222B38"/>
                </a:solidFill>
                <a:latin typeface="Calibri"/>
              </a:rPr>
              <a:t>3.246 hari (2010 – Apr 2023).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22B38"/>
                </a:solidFill>
                <a:latin typeface="Calibri"/>
              </a:rPr>
              <a:t>Data uji: </a:t>
            </a:r>
            <a:r>
              <a:rPr sz="1500" b="0">
                <a:solidFill>
                  <a:srgbClr val="222B38"/>
                </a:solidFill>
                <a:latin typeface="Calibri"/>
              </a:rPr>
              <a:t>812 hari (Apr 2023 – Sep 2026), tidak diacak.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60920" y="1234440"/>
          <a:ext cx="4434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916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Skenario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Selalu Naik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Ikuti S&amp;P 500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60920" y="4160520"/>
            <a:ext cx="4434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A6778"/>
                </a:solidFill>
                <a:latin typeface="Calibri"/>
              </a:rPr>
              <a:t>Model dibandingkan dengan validasi silang deret waktu (5 bagian) pada data latih.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5A6778"/>
                </a:solidFill>
                <a:latin typeface="Calibri"/>
              </a:rPr>
              <a:t>2 iterasi: </a:t>
            </a:r>
            <a:r>
              <a:rPr sz="1400" b="0">
                <a:solidFill>
                  <a:srgbClr val="5A6778"/>
                </a:solidFill>
                <a:latin typeface="Calibri"/>
              </a:rPr>
              <a:t>dengan kurs (6 fitur), lalu tanpa kurs (5 fitur).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Membangun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65760"/>
            <a:ext cx="2103120" cy="4114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E08214"/>
                </a:solidFill>
                <a:latin typeface="Calibri"/>
              </a:rPr>
              <a:t>Unit 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Prediksi Arah Harian IHSG · M. Syamsuddin Wisnubroto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11</a:t>
            </a:r>
          </a:p>
        </p:txBody>
      </p:sp>
      <p:pic>
        <p:nvPicPr>
          <p:cNvPr id="9" name="Picture 8" descr="09_perbandinga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46987"/>
            <a:ext cx="6949440" cy="3266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35240" y="1325880"/>
            <a:ext cx="4160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E08214"/>
                </a:solidFill>
                <a:latin typeface="Calibri"/>
              </a:rPr>
              <a:t>■  </a:t>
            </a:r>
            <a:r>
              <a:rPr sz="1600" b="1">
                <a:solidFill>
                  <a:srgbClr val="222B38"/>
                </a:solidFill>
                <a:latin typeface="Calibri"/>
              </a:rPr>
              <a:t>Iterasi 1 (dengan kurs): </a:t>
            </a:r>
            <a:r>
              <a:rPr sz="1600" b="0">
                <a:solidFill>
                  <a:srgbClr val="222B38"/>
                </a:solidFill>
                <a:latin typeface="Calibri"/>
              </a:rPr>
              <a:t>Random Forest terbaik (0,595).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E08214"/>
                </a:solidFill>
                <a:latin typeface="Calibri"/>
              </a:rPr>
              <a:t>■  </a:t>
            </a:r>
            <a:r>
              <a:rPr sz="1600" b="1">
                <a:solidFill>
                  <a:srgbClr val="222B38"/>
                </a:solidFill>
                <a:latin typeface="Calibri"/>
              </a:rPr>
              <a:t>Iterasi 2 (tanpa kurs): </a:t>
            </a:r>
            <a:r>
              <a:rPr sz="1600" b="0">
                <a:solidFill>
                  <a:srgbClr val="222B38"/>
                </a:solidFill>
                <a:latin typeface="Calibri"/>
              </a:rPr>
              <a:t>Logistic Regression terbaik (</a:t>
            </a:r>
            <a:r>
              <a:rPr sz="1600" b="1">
                <a:solidFill>
                  <a:srgbClr val="222B38"/>
                </a:solidFill>
                <a:latin typeface="Calibri"/>
              </a:rPr>
              <a:t>0,599</a:t>
            </a:r>
            <a:r>
              <a:rPr sz="1600" b="0">
                <a:solidFill>
                  <a:srgbClr val="222B38"/>
                </a:solidFill>
                <a:latin typeface="Calibri"/>
              </a:rPr>
              <a:t>) → model akhir.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E08214"/>
                </a:solidFill>
                <a:latin typeface="Calibri"/>
              </a:rPr>
              <a:t>■  </a:t>
            </a:r>
            <a:r>
              <a:rPr sz="1600" b="0">
                <a:solidFill>
                  <a:srgbClr val="222B38"/>
                </a:solidFill>
                <a:latin typeface="Calibri"/>
              </a:rPr>
              <a:t>Tanpa kurs, hasil validasi tidak turun.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E08214"/>
                </a:solidFill>
                <a:latin typeface="Calibri"/>
              </a:rPr>
              <a:t>■  </a:t>
            </a:r>
            <a:r>
              <a:rPr sz="1600" b="1">
                <a:solidFill>
                  <a:srgbClr val="D73027"/>
                </a:solidFill>
                <a:latin typeface="Calibri"/>
              </a:rPr>
              <a:t>Catatan jujur: </a:t>
            </a:r>
            <a:r>
              <a:rPr sz="1600" b="0">
                <a:solidFill>
                  <a:srgbClr val="222B38"/>
                </a:solidFill>
                <a:latin typeface="Calibri"/>
              </a:rPr>
              <a:t>aturan sederhana "ikuti S&amp;P 500" (0,596) hampir sama dengan model terbaik.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Evaluasi dengan data uji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65760"/>
            <a:ext cx="2103120" cy="4114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E08214"/>
                </a:solidFill>
                <a:latin typeface="Calibri"/>
              </a:rPr>
              <a:t>Unit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Prediksi Arah Harian IHSG · M. Syamsuddin Wisnubroto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234440"/>
          <a:ext cx="64008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960120"/>
                <a:gridCol w="960120"/>
                <a:gridCol w="960120"/>
              </a:tblGrid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F1-macro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Calibri"/>
                        </a:rPr>
                        <a:t>Iterasi 2: Logistic Regression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Calibri"/>
                        </a:rPr>
                        <a:t>0,558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Calibri"/>
                        </a:rPr>
                        <a:t>0,554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Calibri"/>
                        </a:rPr>
                        <a:t>0,583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Iterasi 1: Random Forest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0,543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0,535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0,577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Ikuti S&amp;P 500 (baseline)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0,546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0,543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0,575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Selalu Naik (baseline)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0,522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0,343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0,500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3657600"/>
          <a:ext cx="6400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Iterasi 1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Iterasi 2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Accuracy ≥ 0,55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73027"/>
                          </a:solidFill>
                          <a:latin typeface="Calibri"/>
                        </a:rPr>
                        <a:t>0,543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9850"/>
                          </a:solidFill>
                          <a:latin typeface="Calibri"/>
                        </a:rPr>
                        <a:t>0,558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F1-macro ≥ 0,55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73027"/>
                          </a:solidFill>
                          <a:latin typeface="Calibri"/>
                        </a:rPr>
                        <a:t>0,535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9850"/>
                          </a:solidFill>
                          <a:latin typeface="Calibri"/>
                        </a:rPr>
                        <a:t>0,554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ROC-AUC ≥ 0,58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73027"/>
                          </a:solidFill>
                          <a:latin typeface="Calibri"/>
                        </a:rPr>
                        <a:t>0,577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9850"/>
                          </a:solidFill>
                          <a:latin typeface="Calibri"/>
                        </a:rPr>
                        <a:t>0,583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Calibri"/>
                        </a:rPr>
                        <a:t>Accuracy &gt; baseline "Selalu Naik"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9850"/>
                          </a:solidFill>
                          <a:latin typeface="Calibri"/>
                        </a:rPr>
                        <a:t>+0,021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9850"/>
                          </a:solidFill>
                          <a:latin typeface="Calibri"/>
                        </a:rPr>
                        <a:t>+0,036</a:t>
                      </a:r>
                    </a:p>
                  </a:txBody>
                  <a:tcPr anchor="ctr" marL="73152" marR="7315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7607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Hijau = target tercapai, merah = belum.</a:t>
            </a:r>
          </a:p>
        </p:txBody>
      </p:sp>
      <p:pic>
        <p:nvPicPr>
          <p:cNvPr id="12" name="Picture 11" descr="10_fitur_pe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063" y="1188720"/>
            <a:ext cx="4612233" cy="2377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86600" y="3749039"/>
            <a:ext cx="4709160" cy="23317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3749039"/>
            <a:ext cx="64008" cy="2331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858768"/>
            <a:ext cx="4343400" cy="2148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Artinya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B38"/>
                </a:solidFill>
                <a:latin typeface="Calibri"/>
              </a:rPr>
              <a:t>•  Benar 55,8% dari 812 hari uji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B38"/>
                </a:solidFill>
                <a:latin typeface="Calibri"/>
              </a:rPr>
              <a:t>•  Iterasi 2: 4 dari 4 target, tetapi tipis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B38"/>
                </a:solidFill>
                <a:latin typeface="Calibri"/>
              </a:rPr>
              <a:t>•  Iterasi 1 (dengan kurs): 1 dari 4 target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B38"/>
                </a:solidFill>
                <a:latin typeface="Calibri"/>
              </a:rPr>
              <a:t>•  Data uji dipakai 2× → perlu konfirmasi data baru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Review: kelebihan, kekurangan, langkah berikutnya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65760"/>
            <a:ext cx="2103120" cy="4114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E08214"/>
                </a:solidFill>
                <a:latin typeface="Calibri"/>
              </a:rPr>
              <a:t>Unit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84280" cy="27432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Prediksi Arah Harian IHSG · M. Syamsuddin Wisnubroto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A6778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5577840" cy="23317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34440"/>
            <a:ext cx="64008" cy="2331720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44168"/>
            <a:ext cx="5212079" cy="2148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A9850"/>
                </a:solidFill>
                <a:latin typeface="Calibri"/>
              </a:rPr>
              <a:t>Kelebihan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Data nyata 2010 – Sep 2026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Masalah data ditemukan &amp; diperbaiki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Pengujian jujur menurut urutan waktu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Model mudah dijelaskan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577840" cy="23317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64008" cy="2331720"/>
          </a:xfrm>
          <a:prstGeom prst="rect">
            <a:avLst/>
          </a:prstGeom>
          <a:solidFill>
            <a:srgbClr val="D73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44168"/>
            <a:ext cx="5212079" cy="2148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D73027"/>
                </a:solidFill>
                <a:latin typeface="Calibri"/>
              </a:rPr>
              <a:t>Kekurangan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Selisih terhadap target tipis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Hanya sedikit lebih baik dari "ikuti S&amp;P 500"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Data uji dipakai dua kali (2 iterasi)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94760"/>
            <a:ext cx="5577840" cy="2286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794760"/>
            <a:ext cx="64008" cy="228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04488"/>
            <a:ext cx="52120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Keputusan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Lanjut ke uji coba paralel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Konfirmasi dengan data setelah Sep 2026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Belum untuk keputusan investasi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94760"/>
            <a:ext cx="5577840" cy="2286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94760"/>
            <a:ext cx="64008" cy="228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04488"/>
            <a:ext cx="52120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Rekomendasi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Tambah data bursa Asia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Latih ulang model tiap bulan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Uji dengan biaya transaksi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8"/>
                </a:solidFill>
                <a:latin typeface="Calibri"/>
              </a:rPr>
              <a:t>•  Evaluasi ulang dengan data setelah Sep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82296" cy="210312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C9D3E3"/>
                </a:solidFill>
                <a:latin typeface="Calibri"/>
              </a:rPr>
              <a:t>Data nyata, langkah sederhana, dan evaluasi yang jujur.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M. Syamsuddin Wisnubroto · ITERA · syamsuddin.wisnubroto@sd.itera.ac.id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C9D3E3"/>
                </a:solidFill>
                <a:latin typeface="Calibri"/>
              </a:rPr>
              <a:t>Portofolio kompetensi, bukan rekomendasi investasi.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